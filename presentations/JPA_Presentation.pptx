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7" r:id="rId4"/>
    <p:sldId id="258" r:id="rId5"/>
    <p:sldId id="278" r:id="rId6"/>
    <p:sldId id="260" r:id="rId7"/>
    <p:sldId id="274" r:id="rId8"/>
    <p:sldId id="261" r:id="rId9"/>
    <p:sldId id="262" r:id="rId10"/>
    <p:sldId id="263" r:id="rId11"/>
    <p:sldId id="264" r:id="rId12"/>
    <p:sldId id="265" r:id="rId13"/>
    <p:sldId id="276" r:id="rId14"/>
    <p:sldId id="266" r:id="rId15"/>
    <p:sldId id="268" r:id="rId16"/>
    <p:sldId id="269" r:id="rId17"/>
    <p:sldId id="270" r:id="rId18"/>
    <p:sldId id="271" r:id="rId19"/>
    <p:sldId id="272" r:id="rId20"/>
    <p:sldId id="275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ankar V B" userId="560ed77c1813718b" providerId="LiveId" clId="{7BC149DD-75B6-47C4-A129-66DFEADE2851}"/>
    <pc:docChg chg="undo custSel modSld">
      <pc:chgData name="Harishankar V B" userId="560ed77c1813718b" providerId="LiveId" clId="{7BC149DD-75B6-47C4-A129-66DFEADE2851}" dt="2026-06-29T06:47:31.367" v="246" actId="1076"/>
      <pc:docMkLst>
        <pc:docMk/>
      </pc:docMkLst>
      <pc:sldChg chg="modSp mod">
        <pc:chgData name="Harishankar V B" userId="560ed77c1813718b" providerId="LiveId" clId="{7BC149DD-75B6-47C4-A129-66DFEADE2851}" dt="2026-06-29T06:47:06.429" v="243" actId="14100"/>
        <pc:sldMkLst>
          <pc:docMk/>
          <pc:sldMk cId="0" sldId="264"/>
        </pc:sldMkLst>
        <pc:spChg chg="mod">
          <ac:chgData name="Harishankar V B" userId="560ed77c1813718b" providerId="LiveId" clId="{7BC149DD-75B6-47C4-A129-66DFEADE2851}" dt="2026-06-29T06:47:06.429" v="243" actId="14100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Harishankar V B" userId="560ed77c1813718b" providerId="LiveId" clId="{7BC149DD-75B6-47C4-A129-66DFEADE2851}" dt="2026-06-29T06:47:31.367" v="246" actId="1076"/>
        <pc:sldMkLst>
          <pc:docMk/>
          <pc:sldMk cId="0" sldId="268"/>
        </pc:sldMkLst>
        <pc:spChg chg="mod">
          <ac:chgData name="Harishankar V B" userId="560ed77c1813718b" providerId="LiveId" clId="{7BC149DD-75B6-47C4-A129-66DFEADE2851}" dt="2026-06-29T06:47:31.367" v="246" actId="1076"/>
          <ac:spMkLst>
            <pc:docMk/>
            <pc:sldMk cId="0" sldId="268"/>
            <ac:spMk id="9" creationId="{C76547B8-97D5-2F9F-CE20-E3439599C644}"/>
          </ac:spMkLst>
        </pc:spChg>
      </pc:sldChg>
      <pc:sldChg chg="addSp delSp modSp mod">
        <pc:chgData name="Harishankar V B" userId="560ed77c1813718b" providerId="LiveId" clId="{7BC149DD-75B6-47C4-A129-66DFEADE2851}" dt="2026-06-29T06:46:41.922" v="242" actId="478"/>
        <pc:sldMkLst>
          <pc:docMk/>
          <pc:sldMk cId="0" sldId="274"/>
        </pc:sldMkLst>
        <pc:spChg chg="mod">
          <ac:chgData name="Harishankar V B" userId="560ed77c1813718b" providerId="LiveId" clId="{7BC149DD-75B6-47C4-A129-66DFEADE2851}" dt="2026-06-29T06:31:02.755" v="80" actId="1076"/>
          <ac:spMkLst>
            <pc:docMk/>
            <pc:sldMk cId="0" sldId="274"/>
            <ac:spMk id="5" creationId="{00000000-0000-0000-0000-000000000000}"/>
          </ac:spMkLst>
        </pc:spChg>
        <pc:spChg chg="del">
          <ac:chgData name="Harishankar V B" userId="560ed77c1813718b" providerId="LiveId" clId="{7BC149DD-75B6-47C4-A129-66DFEADE2851}" dt="2026-06-29T06:17:45.559" v="1" actId="478"/>
          <ac:spMkLst>
            <pc:docMk/>
            <pc:sldMk cId="0" sldId="274"/>
            <ac:spMk id="6" creationId="{00000000-0000-0000-0000-000000000000}"/>
          </ac:spMkLst>
        </pc:spChg>
        <pc:spChg chg="del mod">
          <ac:chgData name="Harishankar V B" userId="560ed77c1813718b" providerId="LiveId" clId="{7BC149DD-75B6-47C4-A129-66DFEADE2851}" dt="2026-06-29T06:46:41.922" v="242" actId="478"/>
          <ac:spMkLst>
            <pc:docMk/>
            <pc:sldMk cId="0" sldId="274"/>
            <ac:spMk id="7" creationId="{00000000-0000-0000-0000-000000000000}"/>
          </ac:spMkLst>
        </pc:spChg>
        <pc:spChg chg="add mod ord">
          <ac:chgData name="Harishankar V B" userId="560ed77c1813718b" providerId="LiveId" clId="{7BC149DD-75B6-47C4-A129-66DFEADE2851}" dt="2026-06-29T06:24:50.440" v="63" actId="1076"/>
          <ac:spMkLst>
            <pc:docMk/>
            <pc:sldMk cId="0" sldId="274"/>
            <ac:spMk id="20" creationId="{4B94BC78-4052-325E-43B0-E2D518BE9A2E}"/>
          </ac:spMkLst>
        </pc:spChg>
        <pc:spChg chg="add mod">
          <ac:chgData name="Harishankar V B" userId="560ed77c1813718b" providerId="LiveId" clId="{7BC149DD-75B6-47C4-A129-66DFEADE2851}" dt="2026-06-29T06:24:10.165" v="56" actId="1076"/>
          <ac:spMkLst>
            <pc:docMk/>
            <pc:sldMk cId="0" sldId="274"/>
            <ac:spMk id="22" creationId="{611293C3-7E9D-2317-78C5-0D4ED9888A1E}"/>
          </ac:spMkLst>
        </pc:spChg>
        <pc:spChg chg="add mod">
          <ac:chgData name="Harishankar V B" userId="560ed77c1813718b" providerId="LiveId" clId="{7BC149DD-75B6-47C4-A129-66DFEADE2851}" dt="2026-06-29T06:30:55.288" v="79" actId="113"/>
          <ac:spMkLst>
            <pc:docMk/>
            <pc:sldMk cId="0" sldId="274"/>
            <ac:spMk id="32" creationId="{936A4593-F0E1-8C6D-0F41-3B3AB4F90C14}"/>
          </ac:spMkLst>
        </pc:spChg>
        <pc:spChg chg="add mod">
          <ac:chgData name="Harishankar V B" userId="560ed77c1813718b" providerId="LiveId" clId="{7BC149DD-75B6-47C4-A129-66DFEADE2851}" dt="2026-06-29T06:40:27.986" v="197" actId="1076"/>
          <ac:spMkLst>
            <pc:docMk/>
            <pc:sldMk cId="0" sldId="274"/>
            <ac:spMk id="38" creationId="{02DCD62E-97CE-4F61-63F6-FC5913743098}"/>
          </ac:spMkLst>
        </pc:spChg>
        <pc:spChg chg="add mod">
          <ac:chgData name="Harishankar V B" userId="560ed77c1813718b" providerId="LiveId" clId="{7BC149DD-75B6-47C4-A129-66DFEADE2851}" dt="2026-06-29T06:41:22.185" v="202" actId="1076"/>
          <ac:spMkLst>
            <pc:docMk/>
            <pc:sldMk cId="0" sldId="274"/>
            <ac:spMk id="44" creationId="{470B32A6-52AF-1548-21E7-707F0EED5D23}"/>
          </ac:spMkLst>
        </pc:spChg>
        <pc:spChg chg="add mod">
          <ac:chgData name="Harishankar V B" userId="560ed77c1813718b" providerId="LiveId" clId="{7BC149DD-75B6-47C4-A129-66DFEADE2851}" dt="2026-06-29T06:42:54.888" v="215" actId="1076"/>
          <ac:spMkLst>
            <pc:docMk/>
            <pc:sldMk cId="0" sldId="274"/>
            <ac:spMk id="54" creationId="{67727470-BE94-31AD-9DE3-1BD2F9F72AD1}"/>
          </ac:spMkLst>
        </pc:spChg>
        <pc:spChg chg="add mod">
          <ac:chgData name="Harishankar V B" userId="560ed77c1813718b" providerId="LiveId" clId="{7BC149DD-75B6-47C4-A129-66DFEADE2851}" dt="2026-06-29T06:44:51.144" v="228" actId="1076"/>
          <ac:spMkLst>
            <pc:docMk/>
            <pc:sldMk cId="0" sldId="274"/>
            <ac:spMk id="60" creationId="{126AF11A-FC6A-04D9-E243-CCE0DB116652}"/>
          </ac:spMkLst>
        </pc:spChg>
        <pc:spChg chg="add mod">
          <ac:chgData name="Harishankar V B" userId="560ed77c1813718b" providerId="LiveId" clId="{7BC149DD-75B6-47C4-A129-66DFEADE2851}" dt="2026-06-29T06:46:30.599" v="241" actId="1076"/>
          <ac:spMkLst>
            <pc:docMk/>
            <pc:sldMk cId="0" sldId="274"/>
            <ac:spMk id="66" creationId="{3F3D0FFF-316E-79FE-EE67-F2611E71AF3A}"/>
          </ac:spMkLst>
        </pc:spChg>
        <pc:picChg chg="add mod">
          <ac:chgData name="Harishankar V B" userId="560ed77c1813718b" providerId="LiveId" clId="{7BC149DD-75B6-47C4-A129-66DFEADE2851}" dt="2026-06-29T06:18:01.366" v="5" actId="1076"/>
          <ac:picMkLst>
            <pc:docMk/>
            <pc:sldMk cId="0" sldId="274"/>
            <ac:picMk id="10" creationId="{86C23288-3996-4BF3-C697-50BD77CC2A17}"/>
          </ac:picMkLst>
        </pc:picChg>
        <pc:picChg chg="add mod">
          <ac:chgData name="Harishankar V B" userId="560ed77c1813718b" providerId="LiveId" clId="{7BC149DD-75B6-47C4-A129-66DFEADE2851}" dt="2026-06-29T06:18:44.632" v="8" actId="1076"/>
          <ac:picMkLst>
            <pc:docMk/>
            <pc:sldMk cId="0" sldId="274"/>
            <ac:picMk id="12" creationId="{9C6667D5-2950-2349-D076-9F309E598098}"/>
          </ac:picMkLst>
        </pc:picChg>
        <pc:picChg chg="add mod">
          <ac:chgData name="Harishankar V B" userId="560ed77c1813718b" providerId="LiveId" clId="{7BC149DD-75B6-47C4-A129-66DFEADE2851}" dt="2026-06-29T06:19:06.187" v="10" actId="1076"/>
          <ac:picMkLst>
            <pc:docMk/>
            <pc:sldMk cId="0" sldId="274"/>
            <ac:picMk id="14" creationId="{9B89C188-4128-5D21-0F1A-387F7221ABD0}"/>
          </ac:picMkLst>
        </pc:picChg>
        <pc:picChg chg="add mod">
          <ac:chgData name="Harishankar V B" userId="560ed77c1813718b" providerId="LiveId" clId="{7BC149DD-75B6-47C4-A129-66DFEADE2851}" dt="2026-06-29T06:22:34.955" v="51" actId="1076"/>
          <ac:picMkLst>
            <pc:docMk/>
            <pc:sldMk cId="0" sldId="274"/>
            <ac:picMk id="16" creationId="{4DA1B755-7E1E-04F0-02E2-28A344C01D40}"/>
          </ac:picMkLst>
        </pc:picChg>
        <pc:picChg chg="add del mod">
          <ac:chgData name="Harishankar V B" userId="560ed77c1813718b" providerId="LiveId" clId="{7BC149DD-75B6-47C4-A129-66DFEADE2851}" dt="2026-06-29T06:20:26.392" v="18" actId="478"/>
          <ac:picMkLst>
            <pc:docMk/>
            <pc:sldMk cId="0" sldId="274"/>
            <ac:picMk id="18" creationId="{8781BF98-6545-E0F0-EC11-14DC39AB2453}"/>
          </ac:picMkLst>
        </pc:picChg>
        <pc:picChg chg="add mod">
          <ac:chgData name="Harishankar V B" userId="560ed77c1813718b" providerId="LiveId" clId="{7BC149DD-75B6-47C4-A129-66DFEADE2851}" dt="2026-06-29T06:24:30.996" v="60" actId="1076"/>
          <ac:picMkLst>
            <pc:docMk/>
            <pc:sldMk cId="0" sldId="274"/>
            <ac:picMk id="24" creationId="{7347B199-5773-2D07-A797-4CFF6697CAD4}"/>
          </ac:picMkLst>
        </pc:picChg>
        <pc:picChg chg="add mod">
          <ac:chgData name="Harishankar V B" userId="560ed77c1813718b" providerId="LiveId" clId="{7BC149DD-75B6-47C4-A129-66DFEADE2851}" dt="2026-06-29T06:24:27.766" v="59" actId="1076"/>
          <ac:picMkLst>
            <pc:docMk/>
            <pc:sldMk cId="0" sldId="274"/>
            <ac:picMk id="26" creationId="{5B42E34E-D22E-95A4-6224-7E486AECB9F5}"/>
          </ac:picMkLst>
        </pc:picChg>
        <pc:picChg chg="add mod">
          <ac:chgData name="Harishankar V B" userId="560ed77c1813718b" providerId="LiveId" clId="{7BC149DD-75B6-47C4-A129-66DFEADE2851}" dt="2026-06-29T06:25:11.720" v="65" actId="1076"/>
          <ac:picMkLst>
            <pc:docMk/>
            <pc:sldMk cId="0" sldId="274"/>
            <ac:picMk id="28" creationId="{4F3CA4F8-B725-967C-1F17-B1257DF3E142}"/>
          </ac:picMkLst>
        </pc:picChg>
        <pc:picChg chg="add mod">
          <ac:chgData name="Harishankar V B" userId="560ed77c1813718b" providerId="LiveId" clId="{7BC149DD-75B6-47C4-A129-66DFEADE2851}" dt="2026-06-29T06:30:32.007" v="77" actId="14100"/>
          <ac:picMkLst>
            <pc:docMk/>
            <pc:sldMk cId="0" sldId="274"/>
            <ac:picMk id="30" creationId="{AC321AC4-4A81-8469-74B2-D7ACF1712D17}"/>
          </ac:picMkLst>
        </pc:picChg>
        <pc:picChg chg="add mod">
          <ac:chgData name="Harishankar V B" userId="560ed77c1813718b" providerId="LiveId" clId="{7BC149DD-75B6-47C4-A129-66DFEADE2851}" dt="2026-06-29T06:40:14.188" v="195" actId="1076"/>
          <ac:picMkLst>
            <pc:docMk/>
            <pc:sldMk cId="0" sldId="274"/>
            <ac:picMk id="34" creationId="{81715F90-781E-867E-FA34-FF2F4C2A8FEA}"/>
          </ac:picMkLst>
        </pc:picChg>
        <pc:picChg chg="add mod">
          <ac:chgData name="Harishankar V B" userId="560ed77c1813718b" providerId="LiveId" clId="{7BC149DD-75B6-47C4-A129-66DFEADE2851}" dt="2026-06-29T06:40:22.182" v="196" actId="1076"/>
          <ac:picMkLst>
            <pc:docMk/>
            <pc:sldMk cId="0" sldId="274"/>
            <ac:picMk id="36" creationId="{E582A7FF-AB26-D8AF-12CE-9288316B9B66}"/>
          </ac:picMkLst>
        </pc:picChg>
        <pc:picChg chg="add mod">
          <ac:chgData name="Harishankar V B" userId="560ed77c1813718b" providerId="LiveId" clId="{7BC149DD-75B6-47C4-A129-66DFEADE2851}" dt="2026-06-29T06:40:53.876" v="199" actId="688"/>
          <ac:picMkLst>
            <pc:docMk/>
            <pc:sldMk cId="0" sldId="274"/>
            <ac:picMk id="40" creationId="{D8B01279-843F-8363-948A-44F002E79B06}"/>
          </ac:picMkLst>
        </pc:picChg>
        <pc:picChg chg="add mod">
          <ac:chgData name="Harishankar V B" userId="560ed77c1813718b" providerId="LiveId" clId="{7BC149DD-75B6-47C4-A129-66DFEADE2851}" dt="2026-06-29T06:41:14.320" v="201" actId="1076"/>
          <ac:picMkLst>
            <pc:docMk/>
            <pc:sldMk cId="0" sldId="274"/>
            <ac:picMk id="42" creationId="{0829B5DD-91A7-9354-A157-93075DEB2A3D}"/>
          </ac:picMkLst>
        </pc:picChg>
        <pc:picChg chg="add mod">
          <ac:chgData name="Harishankar V B" userId="560ed77c1813718b" providerId="LiveId" clId="{7BC149DD-75B6-47C4-A129-66DFEADE2851}" dt="2026-06-29T06:41:53.512" v="208" actId="1076"/>
          <ac:picMkLst>
            <pc:docMk/>
            <pc:sldMk cId="0" sldId="274"/>
            <ac:picMk id="46" creationId="{91558AE2-B1D8-9601-6BD0-9BD9FF381449}"/>
          </ac:picMkLst>
        </pc:picChg>
        <pc:picChg chg="add del mod">
          <ac:chgData name="Harishankar V B" userId="560ed77c1813718b" providerId="LiveId" clId="{7BC149DD-75B6-47C4-A129-66DFEADE2851}" dt="2026-06-29T06:39:15.132" v="190" actId="478"/>
          <ac:picMkLst>
            <pc:docMk/>
            <pc:sldMk cId="0" sldId="274"/>
            <ac:picMk id="50" creationId="{82D0DB5D-AAAB-BBFB-B67E-9D44BE98EEC2}"/>
          </ac:picMkLst>
        </pc:picChg>
        <pc:picChg chg="add mod">
          <ac:chgData name="Harishankar V B" userId="560ed77c1813718b" providerId="LiveId" clId="{7BC149DD-75B6-47C4-A129-66DFEADE2851}" dt="2026-06-29T06:42:44.623" v="214" actId="1076"/>
          <ac:picMkLst>
            <pc:docMk/>
            <pc:sldMk cId="0" sldId="274"/>
            <ac:picMk id="52" creationId="{625AAED0-3366-984B-7E4B-DA11602C2DDD}"/>
          </ac:picMkLst>
        </pc:picChg>
        <pc:picChg chg="add mod">
          <ac:chgData name="Harishankar V B" userId="560ed77c1813718b" providerId="LiveId" clId="{7BC149DD-75B6-47C4-A129-66DFEADE2851}" dt="2026-06-29T06:43:39.640" v="220" actId="1076"/>
          <ac:picMkLst>
            <pc:docMk/>
            <pc:sldMk cId="0" sldId="274"/>
            <ac:picMk id="56" creationId="{89133548-AF43-3327-937B-6A185DD168D9}"/>
          </ac:picMkLst>
        </pc:picChg>
        <pc:picChg chg="add mod">
          <ac:chgData name="Harishankar V B" userId="560ed77c1813718b" providerId="LiveId" clId="{7BC149DD-75B6-47C4-A129-66DFEADE2851}" dt="2026-06-29T06:44:42.915" v="227" actId="14100"/>
          <ac:picMkLst>
            <pc:docMk/>
            <pc:sldMk cId="0" sldId="274"/>
            <ac:picMk id="58" creationId="{8CE9EA12-0A51-06F2-9CEE-B81C1AE884E0}"/>
          </ac:picMkLst>
        </pc:picChg>
        <pc:picChg chg="add mod">
          <ac:chgData name="Harishankar V B" userId="560ed77c1813718b" providerId="LiveId" clId="{7BC149DD-75B6-47C4-A129-66DFEADE2851}" dt="2026-06-29T06:46:05.923" v="238" actId="14100"/>
          <ac:picMkLst>
            <pc:docMk/>
            <pc:sldMk cId="0" sldId="274"/>
            <ac:picMk id="62" creationId="{9B2DBF81-A5AC-C7EB-8504-8A90077FE7FA}"/>
          </ac:picMkLst>
        </pc:picChg>
        <pc:picChg chg="add mod">
          <ac:chgData name="Harishankar V B" userId="560ed77c1813718b" providerId="LiveId" clId="{7BC149DD-75B6-47C4-A129-66DFEADE2851}" dt="2026-06-29T06:45:55.389" v="236" actId="1076"/>
          <ac:picMkLst>
            <pc:docMk/>
            <pc:sldMk cId="0" sldId="274"/>
            <ac:picMk id="64" creationId="{C4FE3557-B8E3-94FC-ED61-14A05909D6C8}"/>
          </ac:picMkLst>
        </pc:picChg>
        <pc:cxnChg chg="add del">
          <ac:chgData name="Harishankar V B" userId="560ed77c1813718b" providerId="LiveId" clId="{7BC149DD-75B6-47C4-A129-66DFEADE2851}" dt="2026-06-29T06:38:59.584" v="187" actId="478"/>
          <ac:cxnSpMkLst>
            <pc:docMk/>
            <pc:sldMk cId="0" sldId="274"/>
            <ac:cxnSpMk id="48" creationId="{E0553A3A-3C34-7316-7F92-B3D4B694FB9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78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EE10-C8C2-364E-E5EF-DE0EC683C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A42E0-1E81-F0E6-5F31-0B8DCA399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83521-B338-87D3-1E6E-05AF4C39B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2E4B7-6C49-7DC3-0C1A-26435E821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571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384" y="150348"/>
            <a:ext cx="3165231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0487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Simulation of a Josephson Parametric Amplifier (JPA)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93895" y="363649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Project Report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By: Harishankar V B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by: Mr. Aashay Pandharpatte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" y="140677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Background: Quantum Amplification &amp; JPAs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Josephson Junction Physics &amp; Three-Wave Mixing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Circuit Topology: SNAIL Architecture</a:t>
            </a: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General operating principles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Baseline Design (9.75 GHz) &amp; Flux Tuning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Re-tuning for 7 GHz Operation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Automated Parameter Optimization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Final Results &amp; Performance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Future Work &amp; Applications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771FE2-6536-0A78-FDA1-E2AE19AE8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9697" y="91368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dac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685800" y="140677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</a:rPr>
              <a:t>Parametric Amplification</a:t>
            </a:r>
          </a:p>
        </p:txBody>
      </p:sp>
      <p:sp>
        <p:nvSpPr>
          <p:cNvPr id="5" name="Subtitle"/>
          <p:cNvSpPr/>
          <p:nvPr/>
        </p:nvSpPr>
        <p:spPr>
          <a:xfrm>
            <a:off x="182880" y="812149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</a:rPr>
              <a:t>How energy from a strong pump signal amplifies a weak input signal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F92684-BEED-CEDC-2C54-11B648746D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898"/>
          <a:stretch>
            <a:fillRect/>
          </a:stretch>
        </p:blipFill>
        <p:spPr>
          <a:xfrm>
            <a:off x="2460155" y="3637171"/>
            <a:ext cx="4027721" cy="1412809"/>
          </a:xfrm>
          <a:prstGeom prst="rect">
            <a:avLst/>
          </a:prstGeom>
        </p:spPr>
      </p:pic>
      <p:sp>
        <p:nvSpPr>
          <p:cNvPr id="6" name="Content"/>
          <p:cNvSpPr/>
          <p:nvPr/>
        </p:nvSpPr>
        <p:spPr>
          <a:xfrm>
            <a:off x="86649" y="1446892"/>
            <a:ext cx="897070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</a:rPr>
              <a:t>A </a:t>
            </a:r>
            <a:r>
              <a:rPr lang="en-US" sz="1400" b="1" dirty="0">
                <a:solidFill>
                  <a:srgbClr val="1F1F1F"/>
                </a:solidFill>
                <a:latin typeface="Arial" pitchFamily="34" charset="0"/>
              </a:rPr>
              <a:t>parametric amplifier</a:t>
            </a:r>
            <a:r>
              <a:rPr lang="en-US" sz="1400" dirty="0">
                <a:solidFill>
                  <a:srgbClr val="1F1F1F"/>
                </a:solidFill>
                <a:latin typeface="Arial" pitchFamily="34" charset="0"/>
              </a:rPr>
              <a:t> uses a strong pump signal to modulate a nonlinear reactive element (like a Josephson junction), transferring energy to a weak input signal and amplifying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F1F1F"/>
              </a:solidFill>
              <a:latin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</a:rPr>
              <a:t>Unlike conventional amplifiers that use resistive gain (and add noise), parametric amplifiers use </a:t>
            </a:r>
            <a:r>
              <a:rPr lang="en-US" sz="1400" b="1" dirty="0">
                <a:solidFill>
                  <a:srgbClr val="1F1F1F"/>
                </a:solidFill>
                <a:latin typeface="Arial" pitchFamily="34" charset="0"/>
              </a:rPr>
              <a:t>reactive (lossless) energy transfer</a:t>
            </a:r>
            <a:r>
              <a:rPr lang="en-US" sz="1400" dirty="0">
                <a:solidFill>
                  <a:srgbClr val="1F1F1F"/>
                </a:solidFill>
                <a:latin typeface="Arial" pitchFamily="34" charset="0"/>
              </a:rPr>
              <a:t>, enabling near-quantum-limited noise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F1F1F"/>
              </a:solidFill>
              <a:latin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</a:rPr>
              <a:t>Analogy:</a:t>
            </a:r>
            <a:r>
              <a:rPr lang="en-US" sz="1400" dirty="0">
                <a:solidFill>
                  <a:srgbClr val="1F1F1F"/>
                </a:solidFill>
                <a:latin typeface="Arial" pitchFamily="34" charset="0"/>
              </a:rPr>
              <a:t> Like pushing a child on a swing at the right frequency — a well-timed pump transfers energy to amplify the oscillation without adding random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F1F1F"/>
              </a:solidFill>
              <a:latin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Energy conservation: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ω_pump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ω_signal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ω_idler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In our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degenerate mode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14 GHz pump → 7 GHz signal + 7 GHz idler.</a:t>
            </a:r>
            <a:endParaRPr lang="en-US" sz="14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46521B-A869-BBC6-673E-BC37B6419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167" y="91440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Quantum Amplification?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Amplification of Single-Photon Signals with minimum noise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698674"/>
            <a:ext cx="7181557" cy="3587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in these systems is carried by extremely faint microwave signals — typically at the level of a single photon (~10⁻ ²⁴ joules per cycle). </a:t>
            </a:r>
          </a:p>
        </p:txBody>
      </p:sp>
      <p:sp>
        <p:nvSpPr>
          <p:cNvPr id="7" name="Shape 4"/>
          <p:cNvSpPr/>
          <p:nvPr/>
        </p:nvSpPr>
        <p:spPr>
          <a:xfrm>
            <a:off x="457201" y="2571750"/>
            <a:ext cx="3931920" cy="2103120"/>
          </a:xfrm>
          <a:prstGeom prst="rect">
            <a:avLst/>
          </a:prstGeom>
          <a:solidFill>
            <a:srgbClr val="FF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38" y="291465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Conventional Amplifiers (HEMTs):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19" y="310588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5–10 photons of noise.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Destroys quantum information.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preserve quantum state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1" y="2571750"/>
            <a:ext cx="3657600" cy="2103120"/>
          </a:xfrm>
          <a:prstGeom prst="rect">
            <a:avLst/>
          </a:prstGeom>
          <a:solidFill>
            <a:srgbClr val="E6FF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37760" y="291465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Josephson Parametric Amplifier: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37760" y="3105882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near quantum limit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exceed SQL (Phase-sensitive) and amplify a specific part of the signal. 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quantum information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46521B-A869-BBC6-673E-BC37B6419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494" y="91440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5275"/>
            <a:ext cx="9144000" cy="89329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" name="Image 0" descr="cdac_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817" y="165295"/>
            <a:ext cx="921434" cy="548640"/>
          </a:xfrm>
          <a:prstGeom prst="rect">
            <a:avLst/>
          </a:prstGeom>
        </p:spPr>
      </p:pic>
      <p:sp>
        <p:nvSpPr>
          <p:cNvPr id="4" name="Title"/>
          <p:cNvSpPr/>
          <p:nvPr/>
        </p:nvSpPr>
        <p:spPr>
          <a:xfrm>
            <a:off x="685800" y="211015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Josephson Junction &amp; Three-Wave Mixing</a:t>
            </a:r>
          </a:p>
        </p:txBody>
      </p:sp>
      <p:sp>
        <p:nvSpPr>
          <p:cNvPr id="5" name="JJ Header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</a:rPr>
              <a:t>What is a Josephson Junction?</a:t>
            </a:r>
          </a:p>
        </p:txBody>
      </p:sp>
      <p:sp>
        <p:nvSpPr>
          <p:cNvPr id="6" name="JJ Content"/>
          <p:cNvSpPr/>
          <p:nvPr/>
        </p:nvSpPr>
        <p:spPr>
          <a:xfrm>
            <a:off x="457200" y="137160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Two superconductors separated by a thin insulating barrier (few nm thick)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Cooper pairs tunnel across the barrier without resistance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Current-Phase Relation: </a:t>
            </a:r>
            <a:r>
              <a:rPr lang="en-US" sz="1200" b="1" dirty="0">
                <a:solidFill>
                  <a:srgbClr val="2E75B6"/>
                </a:solidFill>
                <a:latin typeface="Arial" pitchFamily="34" charset="0"/>
              </a:rPr>
              <a:t>I = I_c × sin(φ)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Acts as a nonlinear inductor — its inductance depends on the current flowing through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Taylor expansion of sin(φ) reveals the key φ³ nonlinearity needed for parametric amplification.</a:t>
            </a:r>
          </a:p>
        </p:txBody>
      </p:sp>
      <p:sp>
        <p:nvSpPr>
          <p:cNvPr id="7" name="TWM Header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</a:rPr>
              <a:t>What is Three-Wave Mixing?</a:t>
            </a:r>
          </a:p>
        </p:txBody>
      </p:sp>
      <p:sp>
        <p:nvSpPr>
          <p:cNvPr id="8" name="TWM Content"/>
          <p:cNvSpPr/>
          <p:nvPr/>
        </p:nvSpPr>
        <p:spPr>
          <a:xfrm>
            <a:off x="4846320" y="137160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A nonlinear process where three photons interact via the φ³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Energy conservation: </a:t>
            </a:r>
            <a:r>
              <a:rPr lang="en-US" sz="1200" b="1" dirty="0">
                <a:solidFill>
                  <a:srgbClr val="2E75B6"/>
                </a:solidFill>
                <a:latin typeface="Arial" pitchFamily="34" charset="0"/>
              </a:rPr>
              <a:t>ω_pump = ω_signal + ω_idler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One pump photon splits into a signal photon + idler photon, amplifying the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In degenerate mode: signal = idler frequency, so </a:t>
            </a:r>
            <a:r>
              <a:rPr lang="en-US" sz="1200" b="1" dirty="0">
                <a:solidFill>
                  <a:srgbClr val="2E75B6"/>
                </a:solidFill>
                <a:latin typeface="Arial" pitchFamily="34" charset="0"/>
              </a:rPr>
              <a:t>14 GHz = 7 GHz + 7 GHz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Requires broken symmetry (SNAIL) — a symmetric SQUID only has φ⁴ (four-wave mixing, less efficient)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Advantage: Only 1 pump photon needed per amplification event (vs. 2 for four-wave mixing)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2BDD72-5331-EEA7-2F92-9A4F5FB424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6" t="21372" r="1778" b="11721"/>
          <a:stretch>
            <a:fillRect/>
          </a:stretch>
        </p:blipFill>
        <p:spPr>
          <a:xfrm>
            <a:off x="685800" y="3240722"/>
            <a:ext cx="3713871" cy="1691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1A4B15D-5473-4D9F-9E46-8FFF02745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376" y="1430515"/>
            <a:ext cx="5808624" cy="2692097"/>
          </a:xfrm>
          <a:prstGeom prst="rect">
            <a:avLst/>
          </a:prstGeom>
        </p:spPr>
      </p:pic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76775" y="1372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Topology: SNAIL Architecture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" y="1404964"/>
            <a:ext cx="3611451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Signal port (P1)</a:t>
            </a:r>
            <a:r>
              <a:rPr lang="en-US" sz="1500" dirty="0">
                <a:solidFill>
                  <a:srgbClr val="000000"/>
                </a:solidFill>
              </a:rPr>
              <a:t>: 50 Ω termination with DC-blocking inductor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Coupling capacitor (Cc)</a:t>
            </a:r>
            <a:r>
              <a:rPr lang="en-US" sz="1500" dirty="0">
                <a:solidFill>
                  <a:srgbClr val="000000"/>
                </a:solidFill>
              </a:rPr>
              <a:t>: Controls loaded Q and bandwidth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LC Resonator (Lr, Cr)</a:t>
            </a:r>
            <a:r>
              <a:rPr lang="en-US" sz="1500" dirty="0">
                <a:solidFill>
                  <a:srgbClr val="000000"/>
                </a:solidFill>
              </a:rPr>
              <a:t>: Resonates at ~7 GHz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Two Josephson junctions (Lj1, Lj2)</a:t>
            </a:r>
            <a:r>
              <a:rPr lang="en-US" sz="1500" dirty="0">
                <a:solidFill>
                  <a:srgbClr val="000000"/>
                </a:solidFill>
              </a:rPr>
              <a:t>: Nonlinear φ³ source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Inter-junction inductor (L2 = 34 pH)</a:t>
            </a:r>
            <a:r>
              <a:rPr lang="en-US" sz="1500" dirty="0">
                <a:solidFill>
                  <a:srgbClr val="000000"/>
                </a:solidFill>
              </a:rPr>
              <a:t>: BREAKS SYMMETRY → enables φ³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Bias coil (Ldc)</a:t>
            </a:r>
            <a:r>
              <a:rPr lang="en-US" sz="1500" dirty="0">
                <a:solidFill>
                  <a:srgbClr val="000000"/>
                </a:solidFill>
              </a:rPr>
              <a:t>: Injects DC flux and pump signal via mutual coupling K ≈ 0.999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6775" y="43503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asymmetry matters: Symmetric SQUID only has φ⁴ (needs 2 pump photons). SNAIL has φ³ (needs only 1)!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90EF7-D0C4-7DEE-B678-EC6B22258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89056" y="91440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55674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General operating principles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AA84B4-0C21-B03A-9F1D-A5923D06A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85237"/>
            <a:ext cx="920576" cy="548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870903-2ABB-568D-1E12-DC553AA65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449" y="1454344"/>
            <a:ext cx="4745551" cy="2813538"/>
          </a:xfrm>
          <a:prstGeom prst="rect">
            <a:avLst/>
          </a:prstGeom>
        </p:spPr>
      </p:pic>
      <p:sp>
        <p:nvSpPr>
          <p:cNvPr id="6" name="Cryogenic Content">
            <a:extLst>
              <a:ext uri="{FF2B5EF4-FFF2-40B4-BE49-F238E27FC236}">
                <a16:creationId xmlns:a16="http://schemas.microsoft.com/office/drawing/2014/main" id="{6B9517BE-AFB7-C943-9AD8-61053223107F}"/>
              </a:ext>
            </a:extLst>
          </p:cNvPr>
          <p:cNvSpPr/>
          <p:nvPr/>
        </p:nvSpPr>
        <p:spPr>
          <a:xfrm>
            <a:off x="175844" y="1128101"/>
            <a:ext cx="4740813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Josephson junctions require </a:t>
            </a:r>
            <a:r>
              <a:rPr lang="en-US" sz="1200" b="1" dirty="0">
                <a:solidFill>
                  <a:srgbClr val="1F1F1F"/>
                </a:solidFill>
                <a:latin typeface="Arial" pitchFamily="34" charset="0"/>
              </a:rPr>
              <a:t>cryogenic temperatures (~4 K)</a:t>
            </a: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 to maintain superconductivity and minimize thermal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F1F1F"/>
              </a:solidFill>
              <a:latin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Dilution refrigerator (Cryoperm)</a:t>
            </a: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: A 1-meter tall vessel containing liquid helium-3/helium-4 mixture. The circulators pump helium through the system to absorb heat and maintain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Attenuators (20 dB input, 30 dB output) </a:t>
            </a: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reduce thermal radiation noise from warm stages (RT) before entering the 4 K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Circulator at 4 K</a:t>
            </a: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: Routes signal bidirectionally without loss; placed immediately after JPA to isolate reflected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HEMT (High Electron Mobility Transistor)</a:t>
            </a: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: Amplifies the cryogenically cooled output signal from the JPA for further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EM shield</a:t>
            </a: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: Encloses the entire 4 K stage to block external electromagnetic interference and reduce noise floor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</a:rPr>
              <a:t>Magnetic coil</a:t>
            </a:r>
            <a:r>
              <a:rPr lang="en-US" sz="1200" dirty="0">
                <a:solidFill>
                  <a:srgbClr val="1F1F1F"/>
                </a:solidFill>
                <a:latin typeface="Arial" pitchFamily="34" charset="0"/>
              </a:rPr>
              <a:t>: Provides DC flux bias and RF pump current to the JPA via mutual coupling; operability depends on cryogenic cooling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256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Design: 9.75 GHz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89857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phase: Set up simulation environment &amp; reproduce known JPA design of peak gain at 9.75 GHz.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2880" y="1623061"/>
            <a:ext cx="4079631" cy="28346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67286" y="1818249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Done: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7286" y="1981786"/>
            <a:ext cx="3882683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Defined symbolic netlist in JosephsonCircuits.jl (5-node circuit)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hbsolve() with pump tone, DC bias, 3-wave &amp; 4-wave mixing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S₁₁ reflection gain in dB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circuit schematic in Proteus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~15 dB gain at 9.75 GHz with ~5 MHz bandwidth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068AD2-4BBA-C57F-6F8C-81D9BA17F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0456" y="91368"/>
            <a:ext cx="920576" cy="5486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C3275A-DB3F-2F95-A8A7-EFA051E82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760" y="1612297"/>
            <a:ext cx="4270868" cy="28454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76776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Tuning Curve Characterization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phase: Measured how resonant frequency depends on external magnetic flux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15161" y="460013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This arch shape (not V-shaped) proves asymmetry is working!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05B38A-5C80-9E47-ECD9-38F712A6A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95788"/>
            <a:ext cx="920576" cy="548688"/>
          </a:xfrm>
          <a:prstGeom prst="rect">
            <a:avLst/>
          </a:prstGeom>
        </p:spPr>
      </p:pic>
      <p:sp>
        <p:nvSpPr>
          <p:cNvPr id="16" name="Shape 3">
            <a:extLst>
              <a:ext uri="{FF2B5EF4-FFF2-40B4-BE49-F238E27FC236}">
                <a16:creationId xmlns:a16="http://schemas.microsoft.com/office/drawing/2014/main" id="{04309A20-1EB7-670E-EA02-0EC6E70D8A08}"/>
              </a:ext>
            </a:extLst>
          </p:cNvPr>
          <p:cNvSpPr/>
          <p:nvPr/>
        </p:nvSpPr>
        <p:spPr>
          <a:xfrm>
            <a:off x="182880" y="1491174"/>
            <a:ext cx="4079631" cy="282936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5719D8-3E7C-A4C7-ECBF-D42F9E4AD8BC}"/>
              </a:ext>
            </a:extLst>
          </p:cNvPr>
          <p:cNvSpPr txBox="1"/>
          <p:nvPr/>
        </p:nvSpPr>
        <p:spPr>
          <a:xfrm>
            <a:off x="316952" y="1663505"/>
            <a:ext cx="1871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What Was Done:</a:t>
            </a:r>
            <a:endParaRPr lang="en-US" dirty="0">
              <a:solidFill>
                <a:schemeClr val="accent5">
                  <a:lumMod val="75000"/>
                </a:schemeClr>
              </a:solidFill>
              <a:effectLst/>
            </a:endParaRPr>
          </a:p>
        </p:txBody>
      </p:sp>
      <p:sp>
        <p:nvSpPr>
          <p:cNvPr id="6" name="Text 3"/>
          <p:cNvSpPr/>
          <p:nvPr/>
        </p:nvSpPr>
        <p:spPr>
          <a:xfrm>
            <a:off x="384417" y="1885099"/>
            <a:ext cx="38752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000000"/>
                </a:solidFill>
              </a:rPr>
              <a:t>Idc swept from 5 µA to 260 µA (150 points)</a:t>
            </a:r>
            <a:endParaRPr lang="en-US" sz="1500" dirty="0"/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000000"/>
                </a:solidFill>
              </a:rPr>
              <a:t>Flux: Φ = M·Idc, where M ≈ 5 pH (mutual inductance)</a:t>
            </a:r>
            <a:endParaRPr lang="en-US" sz="1500" dirty="0"/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000000"/>
                </a:solidFill>
              </a:rPr>
              <a:t>Normalized to flux quantum: Φ/Φ₀ using Φ₀ = 2.068 × 10⁻¹⁵ Wb</a:t>
            </a:r>
            <a:endParaRPr lang="en-US" sz="1500" dirty="0"/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000000"/>
                </a:solidFill>
              </a:rPr>
              <a:t>Solver unreliable above 0.48 Φ₀ → </a:t>
            </a:r>
            <a:r>
              <a:rPr lang="en-US" sz="1400" dirty="0">
                <a:solidFill>
                  <a:srgbClr val="000000"/>
                </a:solidFill>
              </a:rPr>
              <a:t>mirrored</a:t>
            </a:r>
            <a:r>
              <a:rPr lang="en-US" sz="1500" dirty="0">
                <a:solidFill>
                  <a:srgbClr val="000000"/>
                </a:solidFill>
              </a:rPr>
              <a:t> right half around 0.5 Φ₀</a:t>
            </a:r>
            <a:endParaRPr lang="en-US" sz="1500" dirty="0"/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000000"/>
                </a:solidFill>
              </a:rPr>
              <a:t>Result: Arch-shaped curve (9 → 12 GHz) — characteristic of SNAIL</a:t>
            </a:r>
            <a:endParaRPr lang="en-US" sz="1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8A48AC-5887-6A91-F82D-19AA371AA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491175"/>
            <a:ext cx="4304149" cy="28293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145073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Re-tuning for 7 GHz Operation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82999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phase: Shift JPA from 9.75 GHz to 7 GHz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149293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Scaling Relation: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0574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Cr_new = Cr_old × (f_old/f_new)² = 0.4 pF × (9.75/7.0)² = 0.758 pF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57526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Modifications: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399" y="3015761"/>
            <a:ext cx="782867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Cr: 0.4 → 0.758 pF (shifts resonance down)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wp: 19.5 → 14 GHz (maintain 3-wave mixing: wp = 2×ws)</a:t>
            </a:r>
            <a:r>
              <a:rPr lang="en-US" sz="1500" dirty="0"/>
              <a:t> (Found out by the autotune feature)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000000"/>
                </a:solidFill>
              </a:rPr>
              <a:t>Idc</a:t>
            </a:r>
            <a:r>
              <a:rPr lang="en-US" sz="1500" dirty="0">
                <a:solidFill>
                  <a:srgbClr val="000000"/>
                </a:solidFill>
              </a:rPr>
              <a:t>: ≈142 µA (0.34 Φ₀ — preserves asymmetry)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Cc: 16 → 25 fF (widen bandwidth per Abdo et 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Ip: 0.7 µA </a:t>
            </a:r>
            <a:r>
              <a:rPr lang="en-US" dirty="0"/>
              <a:t>→ </a:t>
            </a:r>
            <a:r>
              <a:rPr lang="en-US" sz="1500" dirty="0"/>
              <a:t>5.71</a:t>
            </a:r>
            <a:r>
              <a:rPr lang="en-US" dirty="0"/>
              <a:t> </a:t>
            </a:r>
            <a:r>
              <a:rPr lang="en-US" sz="1500" dirty="0"/>
              <a:t>µA (Found out by the autotune feature)</a:t>
            </a:r>
            <a:endParaRPr lang="en-US" sz="1500" dirty="0">
              <a:solidFill>
                <a:srgbClr val="0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JPA extremely sensitive to pump frequency &amp; current!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1551AC-D995-6D25-6349-0215DF0ED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95788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11945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Parameter Optimization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Manual tuning is impractical (extreme sensitivity to wp &amp; Ip)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Solution: Iterative Grid Search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103119"/>
            <a:ext cx="7315200" cy="2335237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7280" y="224028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Grid: 25 pump frequencies (13.60–14.00 GHz) × 15 pump currents (5–15 µA)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375 combinations tested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combination: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Run hbsolve() with coarse signal sweep (5–7.5 GHz, Δf = 5 MHz)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Extract peak gain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Track maximum → save optimal (wp, Ip) pair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Catch convergence failures via try/catch (skip bifurcation zone)</a:t>
            </a: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2F5076-AC2D-0250-21C9-6C14F9926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9432" y="91368"/>
            <a:ext cx="926672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Results: 7 GHz Design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Achieved: 7.0 GHz with practical 20 dB gain &amp; 18 MHz bandwidth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29260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5910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0" y="15910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847088"/>
            <a:ext cx="768096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8653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Resonator Capacitance Cr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18653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0.758 pF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139696"/>
            <a:ext cx="7680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21579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Coupling Capacitor Cc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21579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fF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2432304"/>
            <a:ext cx="768096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24505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Bias Current Idc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0" y="2450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142.0 µA (≈ 0.34 Φ₀)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2724912"/>
            <a:ext cx="7680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2743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Frequency wp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0" y="27432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14.00 GHz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017520"/>
            <a:ext cx="768096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2960" y="3035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Current Ip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0" y="30358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5.71 µA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3310128"/>
            <a:ext cx="7680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2960" y="33284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Gain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0" y="3328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 dB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1520" y="3602736"/>
            <a:ext cx="768096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22960" y="36210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Frequency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0" y="36210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6.9989 GHz (≈ 7.0 GHz)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1520" y="3895344"/>
            <a:ext cx="7680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22960" y="39136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dB Bandwidth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0" y="3913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MHz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31520" y="4187952"/>
            <a:ext cx="768096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2960" y="42062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Tuning Range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29200" y="4206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 – 8.7 GHz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Matches Abdo et al. (Yale): 19.1 dB gain, 11.3 MHz bandwidth</a:t>
            </a:r>
            <a:endParaRPr lang="en-US" sz="14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D1F517E-DCDE-72D9-2740-5FE8E8EFB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95788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DC5E-2D8A-F7AC-65CB-4131C3D9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>
            <a:extLst>
              <a:ext uri="{FF2B5EF4-FFF2-40B4-BE49-F238E27FC236}">
                <a16:creationId xmlns:a16="http://schemas.microsoft.com/office/drawing/2014/main" id="{D41D3789-FFF7-FAC4-CD14-115924F75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C61D044-90A2-6435-2602-869A06C3B512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25E6D39-A689-93E2-8BC1-E9A83DE9CDD3}"/>
              </a:ext>
            </a:extLst>
          </p:cNvPr>
          <p:cNvSpPr/>
          <p:nvPr/>
        </p:nvSpPr>
        <p:spPr>
          <a:xfrm>
            <a:off x="555674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Final Results: 7 GHz Design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24DA9-3B19-247A-E205-773D3B095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85237"/>
            <a:ext cx="920576" cy="5486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66E16E-BC02-7625-546F-027DDB5D545A}"/>
              </a:ext>
            </a:extLst>
          </p:cNvPr>
          <p:cNvSpPr txBox="1"/>
          <p:nvPr/>
        </p:nvSpPr>
        <p:spPr>
          <a:xfrm>
            <a:off x="1582615" y="4338097"/>
            <a:ext cx="1477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Curve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995B0-2059-B28C-2004-813F82E7E91E}"/>
              </a:ext>
            </a:extLst>
          </p:cNvPr>
          <p:cNvSpPr txBox="1"/>
          <p:nvPr/>
        </p:nvSpPr>
        <p:spPr>
          <a:xfrm>
            <a:off x="6548511" y="4338097"/>
            <a:ext cx="1477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Flux Curve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56F3C3-751B-174D-5226-3E561D8C5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72" y="1494985"/>
            <a:ext cx="3913457" cy="26089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184708-EAE1-1187-2DBD-4296737C0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072" y="1494985"/>
            <a:ext cx="3913457" cy="260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5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" y="172329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Tools &amp; Environment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67392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Julia 1.12</a:t>
            </a:r>
            <a:r>
              <a:rPr lang="en-US" sz="1600" dirty="0">
                <a:solidFill>
                  <a:srgbClr val="000000"/>
                </a:solidFill>
              </a:rPr>
              <a:t>: Scientific computing language for numerical analysis</a:t>
            </a:r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JosephsonCircuits.jl</a:t>
            </a:r>
            <a:r>
              <a:rPr lang="en-US" sz="1600" dirty="0">
                <a:solidFill>
                  <a:srgbClr val="000000"/>
                </a:solidFill>
              </a:rPr>
              <a:t>: Harmonic-balance solver for nonlinear superconducting circuits</a:t>
            </a:r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Plots.jl</a:t>
            </a:r>
            <a:r>
              <a:rPr lang="en-US" sz="1600" dirty="0">
                <a:solidFill>
                  <a:srgbClr val="000000"/>
                </a:solidFill>
              </a:rPr>
              <a:t>: Visualization of gain curves and tuning characteristics</a:t>
            </a:r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VS Code with Julia extension</a:t>
            </a:r>
            <a:r>
              <a:rPr lang="en-US" sz="1600" dirty="0">
                <a:solidFill>
                  <a:srgbClr val="000000"/>
                </a:solidFill>
              </a:rPr>
              <a:t>: Development and debugging environment</a:t>
            </a:r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Proteus</a:t>
            </a:r>
            <a:r>
              <a:rPr lang="en-US" sz="1600" dirty="0">
                <a:solidFill>
                  <a:srgbClr val="000000"/>
                </a:solidFill>
              </a:rPr>
              <a:t>: Schematic capture and circuit verification</a:t>
            </a:r>
          </a:p>
          <a:p>
            <a:pPr>
              <a:buSzPct val="100000"/>
            </a:pP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917015-9490-F0C6-B98F-23AACF0BD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95788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143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Physical Chip Layout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simulation → fabrication-ready GDS design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EEFC52-1610-E08D-052F-A468BE2FD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95788"/>
            <a:ext cx="920576" cy="548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6547B8-97D5-2F9F-CE20-E3439599C644}"/>
              </a:ext>
            </a:extLst>
          </p:cNvPr>
          <p:cNvSpPr txBox="1"/>
          <p:nvPr/>
        </p:nvSpPr>
        <p:spPr>
          <a:xfrm>
            <a:off x="977705" y="1816745"/>
            <a:ext cx="580995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The next phase of the project could involve translating the simulated circuit into a physical chip layout suitable for fabrication.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Tools like DeviceLayout.jl can assist in parametrically exploring layout geometries.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final design must be validated through full-wave electromagnetic simulation and ultimately through experimental measurements.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93896" y="9319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Simulation Studies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Noise Analysis</a:t>
            </a:r>
            <a:r>
              <a:rPr lang="en-US" sz="1500" dirty="0">
                <a:solidFill>
                  <a:srgbClr val="000000"/>
                </a:solidFill>
              </a:rPr>
              <a:t>: Quantum efficiency via adjoint method → verify quantum-limited operation</a:t>
            </a:r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Saturation Power</a:t>
            </a:r>
            <a:r>
              <a:rPr lang="en-US" sz="1500" dirty="0">
                <a:solidFill>
                  <a:srgbClr val="000000"/>
                </a:solidFill>
              </a:rPr>
              <a:t>: P₁dB characterization → determine dynamic range for qubit readout</a:t>
            </a:r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Idler-Mode Analysis</a:t>
            </a:r>
            <a:r>
              <a:rPr lang="en-US" sz="1500" dirty="0">
                <a:solidFill>
                  <a:srgbClr val="000000"/>
                </a:solidFill>
              </a:rPr>
              <a:t>: Signal-to-idler transfer → complete parametric picture</a:t>
            </a:r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Bifurcation Mapping</a:t>
            </a:r>
            <a:r>
              <a:rPr lang="en-US" sz="1500" dirty="0">
                <a:solidFill>
                  <a:srgbClr val="000000"/>
                </a:solidFill>
              </a:rPr>
              <a:t>: Fine sweep near critical Ip → gain–bandwidth–saturation trade-off</a:t>
            </a:r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Performance Optimization</a:t>
            </a:r>
            <a:r>
              <a:rPr lang="en-US" sz="1500" dirty="0">
                <a:solidFill>
                  <a:srgbClr val="000000"/>
                </a:solidFill>
              </a:rPr>
              <a:t>: Parallelize with Threads.@threads (i7-13650HX: 14 cores/20 threads) → ~10× speedup</a:t>
            </a: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D03788-ACBE-1497-52C0-428C1A822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9016" y="91368"/>
            <a:ext cx="926672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143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GHz JPA with ~20 dB gain &amp; 18 MHz bandwidth: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554480"/>
            <a:ext cx="7315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Superconducting Qubit Readout</a:t>
            </a:r>
            <a:r>
              <a:rPr lang="en-US" sz="1500" dirty="0">
                <a:solidFill>
                  <a:srgbClr val="000000"/>
                </a:solidFill>
              </a:rPr>
              <a:t>: Near-quantum-limited amplification for dispersive readout (transmon qubits)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Quantum-Limited Measurement Chains</a:t>
            </a:r>
            <a:r>
              <a:rPr lang="en-US" sz="1500" dirty="0">
                <a:solidFill>
                  <a:srgbClr val="000000"/>
                </a:solidFill>
              </a:rPr>
              <a:t>: First amplifier stage in dilution fridge before cryogenic HEMT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Quantum Sensing</a:t>
            </a:r>
            <a:r>
              <a:rPr lang="en-US" sz="1500" dirty="0">
                <a:solidFill>
                  <a:srgbClr val="000000"/>
                </a:solidFill>
              </a:rPr>
              <a:t>: Low-noise microwave detection (axion searches, precision measurements)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Microwave Squeezing</a:t>
            </a:r>
            <a:r>
              <a:rPr lang="en-US" sz="1500" dirty="0">
                <a:solidFill>
                  <a:srgbClr val="000000"/>
                </a:solidFill>
              </a:rPr>
              <a:t>: Generate squeezed vacuum states → sub-shot-noise measurements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Quantum Networks</a:t>
            </a:r>
            <a:r>
              <a:rPr lang="en-US" sz="1500" dirty="0">
                <a:solidFill>
                  <a:srgbClr val="000000"/>
                </a:solidFill>
              </a:rPr>
              <a:t>: Microwave-to-optical conversion, entanglement distribution between distant qubits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1A06E8-6A50-7E59-2661-5FDA4AA9D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95788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172329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would like to thank my supervisors: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Aashay Pandharpatte &amp; Mr. Amit Saxena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entire C-DAC team for their continuous guidance throughout this internship.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7315200" cy="20116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97280" y="26060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29718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Emphasis on practical bandwidth over peak gain (following Abdo et al.)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Gain–bandwidth trade-off: B = const / √G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Importance of state-of-the-art reference designs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Systematic parameter optimization (avoid manual tuning)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A8A767-723D-31B8-68AA-8B9221467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336" y="95788"/>
            <a:ext cx="920576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4573" y="147687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234440"/>
            <a:ext cx="7315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Successful 7 GHz JPA Design: 21.3 dB gain, 18 MHz bandwidth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parameter search (375 combinations) replaced manual tuning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SNAIL architecture enables efficient 3-wave mixing via φ³ nonlinearity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Validated against Abdo et al. (Yale, 2011) state-of-the-art reference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 &amp; simulation data publicly available on GitHub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5E9885-6C15-C15F-0281-4BF97533D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296" y="91368"/>
            <a:ext cx="926672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172329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914400" y="3691010"/>
            <a:ext cx="7315200" cy="128016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60120" y="378165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Software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904035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JosephsonCircuits.jl (Version 0.5.1)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O’Brien, K. P., &amp; Contributors. (2024). Computer software.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github.com/kpobrien/JosephsonCircuits.jl</a:t>
            </a:r>
            <a:endParaRPr lang="en-US" sz="1400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A8A767-723D-31B8-68AA-8B9221467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336" y="95788"/>
            <a:ext cx="920576" cy="548688"/>
          </a:xfrm>
          <a:prstGeom prst="rect">
            <a:avLst/>
          </a:prstGeom>
        </p:spPr>
      </p:pic>
      <p:sp>
        <p:nvSpPr>
          <p:cNvPr id="6" name="Shape 5">
            <a:extLst>
              <a:ext uri="{FF2B5EF4-FFF2-40B4-BE49-F238E27FC236}">
                <a16:creationId xmlns:a16="http://schemas.microsoft.com/office/drawing/2014/main" id="{722764CA-7DE6-7F8B-205E-1A84947C11D7}"/>
              </a:ext>
            </a:extLst>
          </p:cNvPr>
          <p:cNvSpPr/>
          <p:nvPr/>
        </p:nvSpPr>
        <p:spPr>
          <a:xfrm>
            <a:off x="914400" y="1076596"/>
            <a:ext cx="7315200" cy="251242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91DE9-69C6-9D5F-DE4A-962003BAD339}"/>
              </a:ext>
            </a:extLst>
          </p:cNvPr>
          <p:cNvSpPr txBox="1"/>
          <p:nvPr/>
        </p:nvSpPr>
        <p:spPr>
          <a:xfrm>
            <a:off x="1071154" y="1108154"/>
            <a:ext cx="66293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0070C0"/>
                </a:solidFill>
              </a:rPr>
              <a:t>Research Papers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Abdo et al., IEEE Trans. Appl. </a:t>
            </a:r>
            <a:r>
              <a:rPr lang="en-US" sz="1400" dirty="0" err="1"/>
              <a:t>Supercond</a:t>
            </a:r>
            <a:r>
              <a:rPr lang="en-US" sz="1400" dirty="0"/>
              <a:t>. (2011)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IEEE state-of-the-art review of JPAs (2020)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Development of a Josephson Parametric Amplifier for the Preparation and Detection of Nonclassical States of Microwave Fields by Manuel Angel Castellanos Beltran (2002)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Fortgeschrittenenpraktikum</a:t>
            </a:r>
            <a:r>
              <a:rPr lang="en-US" sz="1400" dirty="0"/>
              <a:t>: The Josephson Parametric Amplifier by Philipp </a:t>
            </a:r>
            <a:r>
              <a:rPr lang="en-US" sz="1400" dirty="0" err="1"/>
              <a:t>Kr¨uger</a:t>
            </a:r>
            <a:r>
              <a:rPr lang="en-US" sz="1400" dirty="0"/>
              <a:t> and Kirill G. Fedorov (2021)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Study of Parametric Amplification by Matthew James Quinn Jr.(1961)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Superconducting Parametric Amplifier Design by Kyle Woodworth, Chandrashekhar Gaikwad, Davide Braga, Kater Murch, Farah Fahim (2024)</a:t>
            </a:r>
            <a:endParaRPr lang="en-US" sz="14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da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387" y="251460"/>
            <a:ext cx="3601329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917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457200" y="370507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1827</Words>
  <Application>Microsoft Office PowerPoint</Application>
  <PresentationFormat>On-screen Show (16:9)</PresentationFormat>
  <Paragraphs>216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 Josephson Parametric Amplifier (JPA)</dc:title>
  <dc:subject>PptxGenJS Presentation</dc:subject>
  <dc:creator>Harishankar V B</dc:creator>
  <cp:lastModifiedBy>Harishankar V B</cp:lastModifiedBy>
  <cp:revision>34</cp:revision>
  <dcterms:created xsi:type="dcterms:W3CDTF">2026-06-28T14:10:59Z</dcterms:created>
  <dcterms:modified xsi:type="dcterms:W3CDTF">2026-07-03T15:08:01Z</dcterms:modified>
</cp:coreProperties>
</file>